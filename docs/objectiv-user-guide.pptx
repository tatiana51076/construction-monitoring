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Титул инструкции. Две роли: руководитель в вебе, прораб в мобильном приложении.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Показать, что система обслуживает две роли с разными задачами.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Ключевая мысль: сверху вниз — камера, отчёт, срок. Три независимые оси.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самый важный слайд инструкции. Повторить фразу про «не проверяется».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Переходим к инструкции для руководителя.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Тёмная тема по умолчанию, светлая включается кнопкой.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Перечислить вкладки; пояснить, что «План/Факт» — основной экран.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«Не проверяется» и «недостаточно данных» — серые, это честные статусы.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Цикл: Новое → Просмотрено → Запрос отправлен → Закрыто (с исходом).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Справедливость: не наказываем за то, что не зависит от подрядчика.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Служебный режим. Не путать с обычной работой.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Переходим к инструкции для прораба.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принципа: офлайн, один тап, соревнование.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Подчеркнуть: никаких обязательных полей и текста.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План действий для поддержки.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Финальный слайд инструкции. При необходимости распечатать как памятку.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828800"/>
            <a:ext cx="12191695" cy="3108960"/>
          </a:xfrm>
          <a:prstGeom prst="roundRect">
            <a:avLst>
              <a:gd name="adj" fmla="val 7000"/>
            </a:avLst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146304" cy="210312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286000"/>
            <a:ext cx="10058400" cy="22860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ОБЪЕКТИВ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2400" b="1">
                <a:solidFill>
                  <a:srgbClr val="F59E0B"/>
                </a:solidFill>
                <a:latin typeface="Segoe UI"/>
              </a:rPr>
              <a:t>Инструкция пользователя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600" b="0">
                <a:solidFill>
                  <a:srgbClr val="E5E7EB"/>
                </a:solidFill>
                <a:latin typeface="Segoe UI"/>
              </a:rPr>
              <a:t>Как пользоваться системой мониторинга стройплощадки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4709160"/>
            <a:ext cx="10058400" cy="5486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Для руководителя (РП, ПТО, технадзор) и прораба на объекте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инструкция пользователя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НАЧАЛО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Кто и что делает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532120" cy="4114800"/>
          </a:xfrm>
          <a:prstGeom prst="roundRect">
            <a:avLst>
              <a:gd name="adj" fmla="val 7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46504"/>
            <a:ext cx="5093208" cy="3840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РУКОВОДИТЕЛЬ (РП, ПТО, ТЕХНАДЗОР)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Работает в веб-интерфейсе на компьютере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Смотрит портфель объектов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Разбирает план/факт и замечания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Видит риск и прогноз срока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376672" cy="4114800"/>
          </a:xfrm>
          <a:prstGeom prst="roundRect">
            <a:avLst>
              <a:gd name="adj" fmla="val 7000"/>
            </a:avLst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3096" y="1746504"/>
            <a:ext cx="4937760" cy="3840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22C55E"/>
                </a:solidFill>
                <a:latin typeface="Segoe UI"/>
              </a:rPr>
              <a:t>ПРОРАБ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Работает в мобильном приложении на телефоне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Фотографирует выполненные работы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Один тап — одно фото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Видит соревнование бригад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инструкция пользователя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СУТЬ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Что делает «Объектив» за 20 секунд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1091672" cy="4114800"/>
          </a:xfrm>
          <a:prstGeom prst="roundRect">
            <a:avLst>
              <a:gd name="adj" fmla="val 7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46504"/>
            <a:ext cx="10652760" cy="3840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ТРИ ВЕЩИ РУКОВОДИТЕЛЬ ВИДИТ РАЗДЕЛЬНО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НАБЛЮДЕНИЕ — подтверждена ли работа камерой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ОТЧЁТНОСТЬ — сходится ли это с тем, что заявил подрядчик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СРОКИ — насколько сдвигается срок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«График есть у всех, камеры есть у многих — мы превращаем их в управление стройкой»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инструкция пользователя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7000"/>
            </a:avLst>
          </a:prstGeom>
          <a:solidFill>
            <a:srgbClr val="0A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7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22C55E"/>
                </a:solidFill>
                <a:latin typeface="Segoe UI"/>
              </a:rPr>
              <a:t>ГЛАВНЫЙ ПРИНЦИП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Честность, а не иллюзия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91672" cy="4114800"/>
          </a:xfrm>
          <a:prstGeom prst="roundRect">
            <a:avLst>
              <a:gd name="adj" fmla="val 7000"/>
            </a:avLst>
          </a:prstGeom>
          <a:solidFill>
            <a:srgbClr val="12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746504"/>
            <a:ext cx="10652760" cy="3840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22C55E"/>
                </a:solidFill>
                <a:latin typeface="Segoe UI"/>
              </a:rPr>
              <a:t>СИСТЕМА ФИКСИРУЕТ, А НЕ УТВЕРЖДАЕТ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50" b="0">
                <a:solidFill>
                  <a:srgbClr val="E5E7EB"/>
                </a:solidFill>
                <a:latin typeface="Segoe UI"/>
              </a:rPr>
              <a:t>Она не утверждает, что работа ВЫПОЛНЕНА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50" b="0">
                <a:solidFill>
                  <a:srgbClr val="E5E7EB"/>
                </a:solidFill>
                <a:latin typeface="Segoe UI"/>
              </a:rPr>
              <a:t>Она фиксирует только то, что ВИДЕЛА: техника была или нет, двигалась или стояла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50" b="0">
                <a:solidFill>
                  <a:srgbClr val="E5E7EB"/>
                </a:solidFill>
                <a:latin typeface="Segoe UI"/>
              </a:rPr>
              <a:t>Всё, что не видно с камеры, честно помечается «НЕ ПРОВЕРЯЕТСЯ»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50" b="0">
                <a:solidFill>
                  <a:srgbClr val="E5E7EB"/>
                </a:solidFill>
                <a:latin typeface="Segoe UI"/>
              </a:rPr>
              <a:t>«Не проверяется» — это честный статус, а не зелёная галочка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инструкция пользователя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103120"/>
            <a:ext cx="12191695" cy="2651760"/>
          </a:xfrm>
          <a:prstGeom prst="roundRect">
            <a:avLst>
              <a:gd name="adj" fmla="val 7000"/>
            </a:avLst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606040"/>
            <a:ext cx="146304" cy="164592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560320"/>
            <a:ext cx="10058400" cy="1828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F59E0B"/>
                </a:solidFill>
                <a:latin typeface="Segoe UI"/>
              </a:rPr>
              <a:t>ЧАСТЬ I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Руководитель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Веб-интерфейс: портфель, объекты, план/факт, статусы, риск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инструкция пользователя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РУКОВОДИТЕЛЬ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Как открыть интерфейс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1091672" cy="4114800"/>
          </a:xfrm>
          <a:prstGeom prst="roundRect">
            <a:avLst>
              <a:gd name="adj" fmla="val 7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46504"/>
            <a:ext cx="10652760" cy="3840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ТРИ ШАГА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1.  Открыть браузер: Chrome, Edge или Яндекс.Браузер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2.  Перейти по адресу: http://&lt;адрес&gt;/app/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3.  Для демонстрации на компьютере: http://localhost:5180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Сверху — логотип «Объектив», выбор проектов, тема, кнопка «Тех. режим»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инструкция пользователя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РУКОВОДИТЕЛЬ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Главный экран — портфель объектов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394960" cy="4114800"/>
          </a:xfrm>
          <a:prstGeom prst="roundRect">
            <a:avLst>
              <a:gd name="adj" fmla="val 7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46504"/>
            <a:ext cx="4956048" cy="3840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ЧТО ВИДНО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Список объектов, отсортированный ПО ПРОБЛЕМНОСТИ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Сверху — самые проблемные; беспроблемные не мешают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Цвет и метка статуса у каждого объекта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Контакты ответственных и легенда — внизу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00200"/>
            <a:ext cx="5513832" cy="4114800"/>
          </a:xfrm>
          <a:prstGeom prst="roundRect">
            <a:avLst>
              <a:gd name="adj" fmla="val 7000"/>
            </a:avLst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5936" y="1746504"/>
            <a:ext cx="5074920" cy="3840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22C55E"/>
                </a:solidFill>
                <a:latin typeface="Segoe UI"/>
              </a:rPr>
              <a:t>ЧТО ДЕЛАТЬ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Нажать на объект — откроется его карточка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Кнопка «Проекты» — закрепить нужные объекты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Статус портфеля понятен за 30 секунд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инструкция пользователя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7/20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инструкция пользователя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8/20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РУКОВОДИТЕЛЬ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Вкладки карточки объекта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848612" cy="457200"/>
          </a:xfrm>
          <a:prstGeom prst="roundRect">
            <a:avLst>
              <a:gd name="adj" fmla="val 7000"/>
            </a:avLst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665732" cy="4572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F59E0B"/>
                </a:solidFill>
                <a:latin typeface="Segoe UI"/>
              </a:rPr>
              <a:t>Вкладка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97252" y="1600200"/>
            <a:ext cx="5776912" cy="457200"/>
          </a:xfrm>
          <a:prstGeom prst="roundRect">
            <a:avLst>
              <a:gd name="adj" fmla="val 7000"/>
            </a:avLst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8692" y="1600200"/>
            <a:ext cx="5594032" cy="4572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F59E0B"/>
                </a:solidFill>
                <a:latin typeface="Segoe UI"/>
              </a:rPr>
              <a:t>Что показывает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74164" y="1600200"/>
            <a:ext cx="3466147" cy="457200"/>
          </a:xfrm>
          <a:prstGeom prst="roundRect">
            <a:avLst>
              <a:gd name="adj" fmla="val 7000"/>
            </a:avLst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65604" y="1600200"/>
            <a:ext cx="3283267" cy="4572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F59E0B"/>
                </a:solidFill>
                <a:latin typeface="Segoe UI"/>
              </a:rPr>
              <a:t>Когда смотреть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57400"/>
            <a:ext cx="1848612" cy="603504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1665732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План / Факт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97252" y="2057400"/>
            <a:ext cx="5776912" cy="603504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88692" y="2057400"/>
            <a:ext cx="5594032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Segoe UI"/>
              </a:rPr>
              <a:t>Работы, заявленный и подтверждённый факт, замечания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4164" y="2057400"/>
            <a:ext cx="3466147" cy="603504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5604" y="2057400"/>
            <a:ext cx="3283267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Segoe UI"/>
              </a:rPr>
              <a:t>Основной рабочий экран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60904"/>
            <a:ext cx="1848612" cy="603504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60904"/>
            <a:ext cx="1665732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Календарь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97252" y="2660904"/>
            <a:ext cx="5776912" cy="603504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88692" y="2660904"/>
            <a:ext cx="5594032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Segoe UI"/>
              </a:rPr>
              <a:t>Дни работ: план, факт, простои. День / неделя / месяц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74164" y="2660904"/>
            <a:ext cx="3466147" cy="603504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5604" y="2660904"/>
            <a:ext cx="3283267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Segoe UI"/>
              </a:rPr>
              <a:t>Сверить сроки и простои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64408"/>
            <a:ext cx="1848612" cy="603504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264408"/>
            <a:ext cx="1665732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Камеры / CV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97252" y="3264408"/>
            <a:ext cx="5776912" cy="603504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88692" y="3264408"/>
            <a:ext cx="5594032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Segoe UI"/>
              </a:rPr>
              <a:t>Кадры, найденная техника, рамки детекции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74164" y="3264408"/>
            <a:ext cx="3466147" cy="603504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5604" y="3264408"/>
            <a:ext cx="3283267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Segoe UI"/>
              </a:rPr>
              <a:t>Что именно видела камера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867912"/>
            <a:ext cx="1848612" cy="603504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867912"/>
            <a:ext cx="1665732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Методология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97252" y="3867912"/>
            <a:ext cx="5776912" cy="603504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88692" y="3867912"/>
            <a:ext cx="5594032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Segoe UI"/>
              </a:rPr>
              <a:t>Откуда вердикт и как посчитан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74164" y="3867912"/>
            <a:ext cx="3466147" cy="603504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65604" y="3867912"/>
            <a:ext cx="3283267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Segoe UI"/>
              </a:rPr>
              <a:t>Объяснить или оспорить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471416"/>
            <a:ext cx="1848612" cy="603504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471416"/>
            <a:ext cx="1665732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Риск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97252" y="4471416"/>
            <a:ext cx="5776912" cy="603504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88692" y="4471416"/>
            <a:ext cx="5594032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Segoe UI"/>
              </a:rPr>
              <a:t>Оценка риска объекта 0–100 и составляющие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74164" y="4471416"/>
            <a:ext cx="3466147" cy="603504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65604" y="4471416"/>
            <a:ext cx="3283267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Segoe UI"/>
              </a:rPr>
              <a:t>Понять серьёзность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074920"/>
            <a:ext cx="1848612" cy="603504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074920"/>
            <a:ext cx="1665732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Карта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97252" y="5074920"/>
            <a:ext cx="5776912" cy="603504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88692" y="5074920"/>
            <a:ext cx="5594032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Segoe UI"/>
              </a:rPr>
              <a:t>Зоны площадки и техника на плане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74164" y="5074920"/>
            <a:ext cx="3466147" cy="603504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65604" y="5074920"/>
            <a:ext cx="3283267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Segoe UI"/>
              </a:rPr>
              <a:t>Пространственная картина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46520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инструкция пользователя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446520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7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22C55E"/>
                </a:solidFill>
                <a:latin typeface="Segoe UI"/>
              </a:rPr>
              <a:t>РУКОВОДИТЕЛЬ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Статусы и цвета (наблюдение)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657600" cy="457200"/>
          </a:xfrm>
          <a:prstGeom prst="roundRect">
            <a:avLst>
              <a:gd name="adj" fmla="val 7000"/>
            </a:avLst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45920"/>
            <a:ext cx="3474720" cy="4572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Статус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645920"/>
            <a:ext cx="1645920" cy="457200"/>
          </a:xfrm>
          <a:prstGeom prst="roundRect">
            <a:avLst>
              <a:gd name="adj" fmla="val 7000"/>
            </a:avLst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15968" y="1645920"/>
            <a:ext cx="1463040" cy="4572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Цвет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645920"/>
            <a:ext cx="5788152" cy="457200"/>
          </a:xfrm>
          <a:prstGeom prst="roundRect">
            <a:avLst>
              <a:gd name="adj" fmla="val 7000"/>
            </a:avLst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61888" y="1645920"/>
            <a:ext cx="5605272" cy="4572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Что делать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3657600" cy="530352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03120"/>
            <a:ext cx="3474720" cy="5303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Работа идёт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103120"/>
            <a:ext cx="1645920" cy="530352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2103120"/>
            <a:ext cx="1463040" cy="5303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зелёный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103120"/>
            <a:ext cx="5788152" cy="530352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61888" y="2103120"/>
            <a:ext cx="5605272" cy="5303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Segoe UI"/>
              </a:rPr>
              <a:t>Ничего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33472"/>
            <a:ext cx="3657600" cy="530352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633472"/>
            <a:ext cx="3474720" cy="5303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Только ресурсы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633472"/>
            <a:ext cx="1645920" cy="530352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2633472"/>
            <a:ext cx="1463040" cy="5303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жёлтый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2633472"/>
            <a:ext cx="5788152" cy="530352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61888" y="2633472"/>
            <a:ext cx="5605272" cy="5303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Segoe UI"/>
              </a:rPr>
              <a:t>Спросить причину простоя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163824"/>
            <a:ext cx="3657600" cy="530352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163824"/>
            <a:ext cx="3474720" cy="5303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Ничего не обнаружено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163824"/>
            <a:ext cx="1645920" cy="530352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3163824"/>
            <a:ext cx="1463040" cy="5303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красный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3163824"/>
            <a:ext cx="5788152" cy="530352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61888" y="3163824"/>
            <a:ext cx="5605272" cy="5303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Segoe UI"/>
              </a:rPr>
              <a:t>Запросить подтверждение до акта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694176"/>
            <a:ext cx="3657600" cy="530352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694176"/>
            <a:ext cx="3474720" cy="5303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Недостаточно данных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694176"/>
            <a:ext cx="1645920" cy="530352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15968" y="3694176"/>
            <a:ext cx="1463040" cy="5303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серый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3694176"/>
            <a:ext cx="5788152" cy="530352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61888" y="3694176"/>
            <a:ext cx="5605272" cy="5303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Segoe UI"/>
              </a:rPr>
              <a:t>Проверить камеру / объём. Вердикта нет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224528"/>
            <a:ext cx="3657600" cy="530352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4224528"/>
            <a:ext cx="3474720" cy="5303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Не проверяется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4224528"/>
            <a:ext cx="1645920" cy="530352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15968" y="4224528"/>
            <a:ext cx="1463040" cy="5303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серый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52160" y="4224528"/>
            <a:ext cx="5788152" cy="530352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61888" y="4224528"/>
            <a:ext cx="5605272" cy="5303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Segoe UI"/>
              </a:rPr>
              <a:t>Описать признаки или поставить камеру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754880"/>
            <a:ext cx="3657600" cy="530352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4754880"/>
            <a:ext cx="3474720" cy="5303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Решено вручную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4754880"/>
            <a:ext cx="1645920" cy="530352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15968" y="4754880"/>
            <a:ext cx="1463040" cy="5303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синий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52160" y="4754880"/>
            <a:ext cx="5788152" cy="530352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61888" y="4754880"/>
            <a:ext cx="5605272" cy="5303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Segoe U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Цвет зависит только от камеры и никогда — от отчёта или сроков.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46520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инструкция пользователя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46520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РУКОВОДИТЕЛЬ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Карточка замечания — три оси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1091672" cy="4114800"/>
          </a:xfrm>
          <a:prstGeom prst="roundRect">
            <a:avLst>
              <a:gd name="adj" fmla="val 7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46504"/>
            <a:ext cx="10652760" cy="3840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ТРИ НЕЗАВИСИМЫЕ ВЕЛИЧИНЫ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ПЛАН НА СЕГОДНЯ  =  прошедшие рабочие дни / все рабочие дни этапа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ЗАЯВЛЕНО  =  процент, который проставил подрядчик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ПОДТВЕРЖДЕНО  =  дни, где камера видела работу / прошедшие рабочие дни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РАЗРЫВ  =  заявлено − подтверждено  (метка при разрыве ≥ 20 п.п.)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Единицы разные: объём (%) и дни наблюдения не складываются в одну шкалу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инструкция пользователя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10/20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инструкция пользователя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11/20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РУКОВОДИТЕЛЬ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Жизненный цикл замечания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2598049" cy="457200"/>
          </a:xfrm>
          <a:prstGeom prst="roundRect">
            <a:avLst>
              <a:gd name="adj" fmla="val 7000"/>
            </a:avLst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415169" cy="4572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F59E0B"/>
                </a:solidFill>
                <a:latin typeface="Segoe UI"/>
              </a:rPr>
              <a:t>Исход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46689" y="1600200"/>
            <a:ext cx="3996998" cy="457200"/>
          </a:xfrm>
          <a:prstGeom prst="roundRect">
            <a:avLst>
              <a:gd name="adj" fmla="val 7000"/>
            </a:avLst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38129" y="1600200"/>
            <a:ext cx="3814118" cy="4572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F59E0B"/>
                </a:solidFill>
                <a:latin typeface="Segoe UI"/>
              </a:rPr>
              <a:t>Смысл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43688" y="1600200"/>
            <a:ext cx="4496623" cy="457200"/>
          </a:xfrm>
          <a:prstGeom prst="roundRect">
            <a:avLst>
              <a:gd name="adj" fmla="val 7000"/>
            </a:avLst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5128" y="1600200"/>
            <a:ext cx="4313743" cy="4572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F59E0B"/>
                </a:solidFill>
                <a:latin typeface="Segoe UI"/>
              </a:rPr>
              <a:t>Что происходит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57400"/>
            <a:ext cx="2598049" cy="658368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2415169" cy="6583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Подтвердилось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46689" y="2057400"/>
            <a:ext cx="3996998" cy="658368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38129" y="2057400"/>
            <a:ext cx="3814118" cy="6583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Segoe UI"/>
              </a:rPr>
              <a:t>Подрядчик не доказал объём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43688" y="2057400"/>
            <a:ext cx="4496623" cy="658368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5128" y="2057400"/>
            <a:ext cx="4313743" cy="6583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Segoe UI"/>
              </a:rPr>
              <a:t>Остаётся красным + удержание по КС-2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15768"/>
            <a:ext cx="2598049" cy="658368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15768"/>
            <a:ext cx="2415169" cy="6583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Объяснено подрядчиком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46689" y="2715768"/>
            <a:ext cx="3996998" cy="658368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38129" y="2715768"/>
            <a:ext cx="3814118" cy="6583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Segoe UI"/>
              </a:rPr>
              <a:t>Фотоотчёт, работы вне обзора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43688" y="2715768"/>
            <a:ext cx="4496623" cy="658368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35128" y="2715768"/>
            <a:ext cx="4313743" cy="6583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Segoe UI"/>
              </a:rPr>
              <a:t>Синий «решено вручную»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374136"/>
            <a:ext cx="2598049" cy="658368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374136"/>
            <a:ext cx="2415169" cy="6583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Ложное срабатывание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46689" y="3374136"/>
            <a:ext cx="3996998" cy="658368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38129" y="3374136"/>
            <a:ext cx="3814118" cy="6583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Segoe UI"/>
              </a:rPr>
              <a:t>Ошибка детектора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43688" y="3374136"/>
            <a:ext cx="4496623" cy="658368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35128" y="3374136"/>
            <a:ext cx="4313743" cy="6583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Segoe UI"/>
              </a:rPr>
              <a:t>Кадры в датасет, «решено вручную»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032504"/>
            <a:ext cx="2598049" cy="658368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032504"/>
            <a:ext cx="2415169" cy="6583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Нет ответа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46689" y="4032504"/>
            <a:ext cx="3996998" cy="658368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38129" y="4032504"/>
            <a:ext cx="3814118" cy="6583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Segoe UI"/>
              </a:rPr>
              <a:t>Подрядчик молчит 2 суток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43688" y="4032504"/>
            <a:ext cx="4496623" cy="658368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35128" y="4032504"/>
            <a:ext cx="4313743" cy="6583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Segoe UI"/>
              </a:rPr>
              <a:t>Остаётся красным + метка эскалации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46520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инструкция пользователя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46520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РУКОВОДИТЕЛЬ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Простои без вины подрядчика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1091672" cy="3931920"/>
          </a:xfrm>
          <a:prstGeom prst="roundRect">
            <a:avLst>
              <a:gd name="adj" fmla="val 7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46504"/>
            <a:ext cx="10652760" cy="36576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22C55E"/>
                </a:solidFill>
                <a:latin typeface="Segoe UI"/>
              </a:rPr>
              <a:t>ЕСЛИ ПРОСТОЙ ПОДТВЕРЖДЁН ДОКУМЕНТОМ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Погода, доступ не дан, проектная документация, материалы заказчика,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смежные работы, технологический перерыв и другие внешние причины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→ день становится СЕРЫМ и исключается из расчёта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Без документа — статус «требует подтверждения»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инструкция пользователя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РУКОВОДИТЕЛЬ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Технический режим (служебный)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1091672" cy="3931920"/>
          </a:xfrm>
          <a:prstGeom prst="roundRect">
            <a:avLst>
              <a:gd name="adj" fmla="val 7000"/>
            </a:avLst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46504"/>
            <a:ext cx="10652760" cy="36576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60A5FA"/>
                </a:solidFill>
                <a:latin typeface="Segoe UI"/>
              </a:rPr>
              <a:t>КНОПКА «ТЕХ. РЕЖИМ»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Показывает панель API: /health, /photos, /api/foreman/*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Рамки детекции окрашиваются по уверенности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Появляется JSON ответа сервера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Обычному пользователю не нужен — для демонстрации и отладки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инструкция пользователя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103120"/>
            <a:ext cx="12191695" cy="2651760"/>
          </a:xfrm>
          <a:prstGeom prst="roundRect">
            <a:avLst>
              <a:gd name="adj" fmla="val 7000"/>
            </a:avLst>
          </a:prstGeom>
          <a:solidFill>
            <a:srgbClr val="0A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606040"/>
            <a:ext cx="146304" cy="1645920"/>
          </a:xfrm>
          <a:prstGeom prst="roundRect">
            <a:avLst>
              <a:gd name="adj" fmla="val 7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560320"/>
            <a:ext cx="10058400" cy="1828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22C55E"/>
                </a:solidFill>
                <a:latin typeface="Segoe UI"/>
              </a:rPr>
              <a:t>ЧАСТЬ II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Прораб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Мобильное приложение: один тап — одно фото, работа без интернета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инструкция пользователя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7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22C55E"/>
                </a:solidFill>
                <a:latin typeface="Segoe UI"/>
              </a:rPr>
              <a:t>ПРОРАБ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Три принципа приложения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1091672" cy="4114800"/>
          </a:xfrm>
          <a:prstGeom prst="roundRect">
            <a:avLst>
              <a:gd name="adj" fmla="val 7000"/>
            </a:avLst>
          </a:prstGeom>
          <a:solidFill>
            <a:srgbClr val="12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46504"/>
            <a:ext cx="10652760" cy="3840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22C55E"/>
                </a:solidFill>
                <a:latin typeface="Segoe UI"/>
              </a:rPr>
              <a:t>ПРОСТО И НАДЁЖНО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600" b="0">
                <a:solidFill>
                  <a:srgbClr val="E5E7EB"/>
                </a:solidFill>
                <a:latin typeface="Segoe UI"/>
              </a:rPr>
              <a:t>ОФЛАЙН-ПЕРВЫЙ — фото сохраняется на телефоне ДО любой отправки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600" b="0">
                <a:solidFill>
                  <a:srgbClr val="E5E7EB"/>
                </a:solidFill>
                <a:latin typeface="Segoe UI"/>
              </a:rPr>
              <a:t>МИНИМУМ ДЕЙСТВИЙ — один тап — одно фото, никаких обязательных форм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600" b="0">
                <a:solidFill>
                  <a:srgbClr val="E5E7EB"/>
                </a:solidFill>
                <a:latin typeface="Segoe UI"/>
              </a:rPr>
              <a:t>ПРОЗРАЧНОЕ СОРЕВНОВАНИЕ — бригады видят принятые работы друг друга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инструкция пользователя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7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22C55E"/>
                </a:solidFill>
                <a:latin typeface="Segoe UI"/>
              </a:rPr>
              <a:t>ПРОРАБ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Как снять фото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1091672" cy="4114800"/>
          </a:xfrm>
          <a:prstGeom prst="roundRect">
            <a:avLst>
              <a:gd name="adj" fmla="val 7000"/>
            </a:avLst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46504"/>
            <a:ext cx="10652760" cy="3840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22C55E"/>
                </a:solidFill>
                <a:latin typeface="Segoe UI"/>
              </a:rPr>
              <a:t>ТРИ ШАГА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1.  Открыть приложение, выбрать объект и работу из списка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2.  Нажать кнопку съёмки и сфотографировать результат работы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3.  Фото сразу сохраняется на телефоне; если есть интернет — уйдёт само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Неудачное фото — просто удалить и снять новое. Форма не нужна.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инструкция пользователя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7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22C55E"/>
                </a:solidFill>
                <a:latin typeface="Segoe UI"/>
              </a:rPr>
              <a:t>ПРОРАБ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Работа без интернета и что дальше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394960" cy="4114800"/>
          </a:xfrm>
          <a:prstGeom prst="roundRect">
            <a:avLst>
              <a:gd name="adj" fmla="val 7000"/>
            </a:avLst>
          </a:prstGeom>
          <a:solidFill>
            <a:srgbClr val="12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46504"/>
            <a:ext cx="4956048" cy="3840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22C55E"/>
                </a:solidFill>
                <a:latin typeface="Segoe UI"/>
              </a:rPr>
              <a:t>БЕЗ СВЯЗИ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Фотографировать можно всегда — даже в подвале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Фото копятся в очереди: сохранено → в очереди → отправлено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Появился интернет — приложение само досылает всё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Нажимать для отправки ничего не нужно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00200"/>
            <a:ext cx="5513832" cy="4114800"/>
          </a:xfrm>
          <a:prstGeom prst="roundRect">
            <a:avLst>
              <a:gd name="adj" fmla="val 7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5936" y="1746504"/>
            <a:ext cx="5074920" cy="3840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ЧТО ПРОИСХОДИТ ПОСЛЕ СЪЁМКИ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Твой тап → фото на телефоне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→ (интернет) нейросеть проверяет качество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→ руководитель оценивает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→ факт попадает в график работ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инструкция пользователя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17/20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инструкция пользователя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18/20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инструкция пользователя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19/20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СПРАВКА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Частые вопросы (FAQ)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818444" cy="457200"/>
          </a:xfrm>
          <a:prstGeom prst="roundRect">
            <a:avLst>
              <a:gd name="adj" fmla="val 7000"/>
            </a:avLst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3635564" cy="4572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F59E0B"/>
                </a:solidFill>
                <a:latin typeface="Segoe UI"/>
              </a:rPr>
              <a:t>Вопрос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7084" y="1600200"/>
            <a:ext cx="7273227" cy="457200"/>
          </a:xfrm>
          <a:prstGeom prst="roundRect">
            <a:avLst>
              <a:gd name="adj" fmla="val 7000"/>
            </a:avLst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58524" y="1600200"/>
            <a:ext cx="7090347" cy="4572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F59E0B"/>
                </a:solidFill>
                <a:latin typeface="Segoe UI"/>
              </a:rPr>
              <a:t>Ответ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3818444" cy="932688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3635564" cy="93268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Система говорит, что работы нет, а мы работали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7084" y="2057400"/>
            <a:ext cx="7273227" cy="932688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8524" y="2057400"/>
            <a:ext cx="7090347" cy="93268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50" b="0">
                <a:solidFill>
                  <a:srgbClr val="E5E7EB"/>
                </a:solidFill>
                <a:latin typeface="Segoe UI"/>
              </a:rPr>
              <a:t>Камера видит только свою зону. Работы вне обзора — несите фотоотчёт: замечание закроется как «объяснено». Мало кадров — «недостаточно данных», вердикта нет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90088"/>
            <a:ext cx="3818444" cy="932688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90088"/>
            <a:ext cx="3635564" cy="93268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Что значит «ложное завершение»?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7084" y="2990088"/>
            <a:ext cx="7273227" cy="932688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8524" y="2990088"/>
            <a:ext cx="7090347" cy="93268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50" b="0">
                <a:solidFill>
                  <a:srgbClr val="E5E7EB"/>
                </a:solidFill>
                <a:latin typeface="Segoe UI"/>
              </a:rPr>
              <a:t>Заявлено 100 %, камера технику не видела. Выполнение НЕ ПОДТВЕРЖДЕНО — повод приложить доказательства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22776"/>
            <a:ext cx="3818444" cy="932688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22776"/>
            <a:ext cx="3635564" cy="93268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Почему день стал серым?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67084" y="3922776"/>
            <a:ext cx="7273227" cy="932688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8524" y="3922776"/>
            <a:ext cx="7090347" cy="93268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50" b="0">
                <a:solidFill>
                  <a:srgbClr val="E5E7EB"/>
                </a:solidFill>
                <a:latin typeface="Segoe UI"/>
              </a:rPr>
              <a:t>Либо простой по акту (исключён из расчёта), либо «не проверяется» (не было кадров)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55464"/>
            <a:ext cx="3818444" cy="932688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55464"/>
            <a:ext cx="3635564" cy="93268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Система следит за людьми?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7084" y="4855464"/>
            <a:ext cx="7273227" cy="932688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8524" y="4855464"/>
            <a:ext cx="7090347" cy="93268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50" b="0">
                <a:solidFill>
                  <a:srgbClr val="E5E7EB"/>
                </a:solidFill>
                <a:latin typeface="Segoe UI"/>
              </a:rPr>
              <a:t>Нет. Люди — вспомогательный признак. Приложение прораба мотивирует, а не контролирует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инструкция пользователя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СПРАВКА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Что делать, если что-то не работает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818444" cy="457200"/>
          </a:xfrm>
          <a:prstGeom prst="roundRect">
            <a:avLst>
              <a:gd name="adj" fmla="val 7000"/>
            </a:avLst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3635564" cy="4572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F59E0B"/>
                </a:solidFill>
                <a:latin typeface="Segoe UI"/>
              </a:rPr>
              <a:t>Симптом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7084" y="1600200"/>
            <a:ext cx="7273227" cy="457200"/>
          </a:xfrm>
          <a:prstGeom prst="roundRect">
            <a:avLst>
              <a:gd name="adj" fmla="val 7000"/>
            </a:avLst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58524" y="1600200"/>
            <a:ext cx="7090347" cy="4572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F59E0B"/>
                </a:solidFill>
                <a:latin typeface="Segoe UI"/>
              </a:rPr>
              <a:t>Что делать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3818444" cy="713232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3635564" cy="7132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Фото не отправляется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7084" y="2057400"/>
            <a:ext cx="7273227" cy="713232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8524" y="2057400"/>
            <a:ext cx="7090347" cy="7132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E5E7EB"/>
                </a:solidFill>
                <a:latin typeface="Segoe UI"/>
              </a:rPr>
              <a:t>Проверить интернет. Фото не потеряется — уйдёт, когда связь появится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70632"/>
            <a:ext cx="3818444" cy="713232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70632"/>
            <a:ext cx="3635564" cy="7132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Экран пустой / нет данных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7084" y="2770632"/>
            <a:ext cx="7273227" cy="713232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8524" y="2770632"/>
            <a:ext cx="7090347" cy="7132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E5E7EB"/>
                </a:solidFill>
                <a:latin typeface="Segoe UI"/>
              </a:rPr>
              <a:t>Обновить страницу (F5) или проверить, что бэкенд доступен (/health)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83864"/>
            <a:ext cx="3818444" cy="713232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83864"/>
            <a:ext cx="3635564" cy="7132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Камера показывает не тот объект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67084" y="3483864"/>
            <a:ext cx="7273227" cy="713232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8524" y="3483864"/>
            <a:ext cx="7090347" cy="7132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E5E7EB"/>
                </a:solidFill>
                <a:latin typeface="Segoe UI"/>
              </a:rPr>
              <a:t>Сообщить администратору — неверно закреплена зона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97096"/>
            <a:ext cx="3818444" cy="713232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97096"/>
            <a:ext cx="3635564" cy="7132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Статус кажется ошибочным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7084" y="4197096"/>
            <a:ext cx="7273227" cy="713232"/>
          </a:xfrm>
          <a:prstGeom prst="rect">
            <a:avLst/>
          </a:prstGeom>
          <a:solidFill>
            <a:srgbClr val="18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8524" y="4197096"/>
            <a:ext cx="7090347" cy="7132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E5E7EB"/>
                </a:solidFill>
                <a:latin typeface="Segoe UI"/>
              </a:rPr>
              <a:t>Открыть замечание и «Методологию» — видно, почему выставлен вердикт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инструкция пользователя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11480"/>
            <a:ext cx="109728" cy="82296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881360" cy="9601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СПРАВКА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Словарь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1091672" cy="4114800"/>
          </a:xfrm>
          <a:prstGeom prst="roundRect">
            <a:avLst>
              <a:gd name="adj" fmla="val 7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46504"/>
            <a:ext cx="10652760" cy="38404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ОСНОВНЫЕ ТЕРМИНЫ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РАБОТА — строка календарного плана (этап / вид работ)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ЗОНА — территориальная привязка (захватка, этаж, ось)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ЗАЯВЛЕНО — процент, который поставил подрядчик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ПОДТВЕРЖДЕНО — доля дней, где камера видела работу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ЛОЖНОЕ ЗАВЕРШЕНИЕ — заявлено 100 %, камерой не подтверждено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НЕ ПРОВЕРЯЕТСЯ — честный статус: система этого не видела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450" b="0">
                <a:solidFill>
                  <a:srgbClr val="E5E7EB"/>
                </a:solidFill>
                <a:latin typeface="Segoe UI"/>
              </a:rPr>
              <a:t>ОСЬ — одно из трёх измерений: наблюдение / отчётность / сроки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«Объектив» · инструкция пользователя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spcBef>
                <a:spcPts val="200"/>
              </a:spcBef>
              <a:spcAft>
                <a:spcPts val="4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
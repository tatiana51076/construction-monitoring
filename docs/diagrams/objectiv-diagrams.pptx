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128016"/>
          </a:xfrm>
          <a:prstGeom prst="rect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</p:spPr>
        <p:txBody>
          <a:bodyPr wrap="square" anchor="t" lIns="109728" rIns="10972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ОБЪЕКТИВ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FFD6E4"/>
                </a:solidFill>
                <a:latin typeface="Segoe UI"/>
              </a:rPr>
              <a:t>Диаграммы: архитектура и бизнес-процессы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 anchor="t" lIns="109728" rIns="10972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A83D1"/>
                </a:solidFill>
                <a:latin typeface="Segoe UI"/>
              </a:rPr>
              <a:t>C4 · Sequence · Бизнес-процессы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FD6E4"/>
                </a:solidFill>
                <a:latin typeface="Segoe UI"/>
              </a:rPr>
              <a:t>Корпоративная палитра · формат 16:9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4-web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92608" y="256032"/>
            <a:ext cx="58521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5577840" cy="530352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0053"/>
                </a:solidFill>
                <a:latin typeface="Segoe UI"/>
              </a:rPr>
              <a:t>C4 · КОНТЕКСТ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310F53"/>
                </a:solidFill>
                <a:latin typeface="Segoe UI"/>
              </a:rPr>
              <a:t>Веб-приложение «Объектив» (руководитель)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777240" cy="274320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83D1"/>
                </a:solidFill>
                <a:latin typeface="Segoe UI"/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4-web-conta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92608" y="256032"/>
            <a:ext cx="58521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5577840" cy="530352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0053"/>
                </a:solidFill>
                <a:latin typeface="Segoe UI"/>
              </a:rPr>
              <a:t>C4 · КОНТЕЙНЕРЫ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310F53"/>
                </a:solidFill>
                <a:latin typeface="Segoe UI"/>
              </a:rPr>
              <a:t>Веб-приложение «Объектив» (руководитель)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777240" cy="274320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83D1"/>
                </a:solidFill>
                <a:latin typeface="Segoe UI"/>
              </a:rP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4-web-component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92608" y="256032"/>
            <a:ext cx="58521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5577840" cy="530352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0053"/>
                </a:solidFill>
                <a:latin typeface="Segoe UI"/>
              </a:rPr>
              <a:t>C4 · КОМПОНЕНТЫ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310F53"/>
                </a:solidFill>
                <a:latin typeface="Segoe UI"/>
              </a:rPr>
              <a:t>Веб: экраны руководителя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777240" cy="274320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83D1"/>
                </a:solidFill>
                <a:latin typeface="Segoe UI"/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4-web-component-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92608" y="256032"/>
            <a:ext cx="58521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5577840" cy="530352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0053"/>
                </a:solidFill>
                <a:latin typeface="Segoe UI"/>
              </a:rPr>
              <a:t>C4 · КОМПОНЕНТЫ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310F53"/>
                </a:solidFill>
                <a:latin typeface="Segoe UI"/>
              </a:rPr>
              <a:t>Веб: ядро и интеграция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777240" cy="274320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83D1"/>
                </a:solidFill>
                <a:latin typeface="Segoe UI"/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4-mobile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92608" y="256032"/>
            <a:ext cx="58521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5577840" cy="530352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0053"/>
                </a:solidFill>
                <a:latin typeface="Segoe UI"/>
              </a:rPr>
              <a:t>C4 · КОНТЕКСТ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310F53"/>
                </a:solidFill>
                <a:latin typeface="Segoe UI"/>
              </a:rPr>
              <a:t>Мобильное приложение прораба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777240" cy="274320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83D1"/>
                </a:solidFill>
                <a:latin typeface="Segoe UI"/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4-mobile-conta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92608" y="256032"/>
            <a:ext cx="58521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5577840" cy="530352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0053"/>
                </a:solidFill>
                <a:latin typeface="Segoe UI"/>
              </a:rPr>
              <a:t>C4 · КОНТЕЙНЕРЫ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310F53"/>
                </a:solidFill>
                <a:latin typeface="Segoe UI"/>
              </a:rPr>
              <a:t>Мобильное приложение прораба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777240" cy="274320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83D1"/>
                </a:solidFill>
                <a:latin typeface="Segoe UI"/>
              </a:rP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4-mobile-com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92608" y="256032"/>
            <a:ext cx="58521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5577840" cy="530352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0053"/>
                </a:solidFill>
                <a:latin typeface="Segoe UI"/>
              </a:rPr>
              <a:t>C4 · КОМПОНЕНТЫ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310F53"/>
                </a:solidFill>
                <a:latin typeface="Segoe UI"/>
              </a:rPr>
              <a:t>Мобильное приложение прораба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777240" cy="274320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83D1"/>
                </a:solidFill>
                <a:latin typeface="Segoe UI"/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q-mobile-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92608" y="256032"/>
            <a:ext cx="58521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5577840" cy="530352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0053"/>
                </a:solidFill>
                <a:latin typeface="Segoe UI"/>
              </a:rPr>
              <a:t>ПОСЛЕДОВАТЕЛЬНОСТЬ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310F53"/>
                </a:solidFill>
                <a:latin typeface="Segoe UI"/>
              </a:rPr>
              <a:t>Путь фото прораба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777240" cy="274320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83D1"/>
                </a:solidFill>
                <a:latin typeface="Segoe UI"/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q-web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92608" y="256032"/>
            <a:ext cx="58521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5577840" cy="530352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0053"/>
                </a:solidFill>
                <a:latin typeface="Segoe UI"/>
              </a:rPr>
              <a:t>ПОСЛЕДОВАТЕЛЬНОСТЬ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310F53"/>
                </a:solidFill>
                <a:latin typeface="Segoe UI"/>
              </a:rPr>
              <a:t>Портфель и карточка объекта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777240" cy="274320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83D1"/>
                </a:solidFill>
                <a:latin typeface="Segoe UI"/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p-sver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92608" y="256032"/>
            <a:ext cx="58521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5577840" cy="530352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0053"/>
                </a:solidFill>
                <a:latin typeface="Segoe UI"/>
              </a:rPr>
              <a:t>БИЗНЕС-ПРОЦЕСС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310F53"/>
                </a:solidFill>
                <a:latin typeface="Segoe UI"/>
              </a:rPr>
              <a:t>Сверка плана и факта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777240" cy="274320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83D1"/>
                </a:solidFill>
                <a:latin typeface="Segoe UI"/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p-zamecha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92608" y="256032"/>
            <a:ext cx="58521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5577840" cy="530352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0053"/>
                </a:solidFill>
                <a:latin typeface="Segoe UI"/>
              </a:rPr>
              <a:t>БИЗНЕС-ПРОЦЕСС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310F53"/>
                </a:solidFill>
                <a:latin typeface="Segoe UI"/>
              </a:rPr>
              <a:t>Работа с замечанием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777240" cy="274320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83D1"/>
                </a:solidFill>
                <a:latin typeface="Segoe UI"/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p-fore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92608" y="256032"/>
            <a:ext cx="58521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5577840" cy="530352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0053"/>
                </a:solidFill>
                <a:latin typeface="Segoe UI"/>
              </a:rPr>
              <a:t>БИЗНЕС-ПРОЦЕСС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310F53"/>
                </a:solidFill>
                <a:latin typeface="Segoe UI"/>
              </a:rPr>
              <a:t>Съёмка работ прорабом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777240" cy="274320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83D1"/>
                </a:solidFill>
                <a:latin typeface="Segoe UI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p-prost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92608" y="256032"/>
            <a:ext cx="58521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5577840" cy="530352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0053"/>
                </a:solidFill>
                <a:latin typeface="Segoe UI"/>
              </a:rPr>
              <a:t>БИЗНЕС-ПРОЦЕСС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310F53"/>
                </a:solidFill>
                <a:latin typeface="Segoe UI"/>
              </a:rPr>
              <a:t>Простои по акту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777240" cy="274320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83D1"/>
                </a:solidFill>
                <a:latin typeface="Segoe UI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p-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92608" y="256032"/>
            <a:ext cx="58521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5577840" cy="530352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0053"/>
                </a:solidFill>
                <a:latin typeface="Segoe UI"/>
              </a:rPr>
              <a:t>БИЗНЕС-ПРОЦЕСС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310F53"/>
                </a:solidFill>
                <a:latin typeface="Segoe UI"/>
              </a:rPr>
              <a:t>Импорт календарного графика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777240" cy="274320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83D1"/>
                </a:solidFill>
                <a:latin typeface="Segoe UI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